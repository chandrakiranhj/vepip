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502920" y="594360"/>
            <a:ext cx="100584" cy="13716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804672" y="594360"/>
            <a:ext cx="100584" cy="13716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49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FUNDER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200400" cy="13716"/>
          </a:xfrm>
          <a:prstGeom prst="rect">
            <a:avLst/>
          </a:prstGeom>
          <a:solidFill>
            <a:srgbClr val="F7F3EE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461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Funder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11480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DD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3544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73152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9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Tata Trusts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577840" y="30632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77840" y="3913632"/>
            <a:ext cx="6217920" cy="27432"/>
          </a:xfrm>
          <a:prstGeom prst="rect">
            <a:avLst/>
          </a:prstGeom>
          <a:solidFill>
            <a:srgbClr val="C49A32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4005072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 2024 – 31 Dec 2024
</a:t>
            </a:r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Grant: 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₹25.0L
</a:t>
            </a:r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64008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261872"/>
            <a:ext cx="36576" cy="384048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261872"/>
            <a:ext cx="6675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quarterly report covers Q3 2024-25. CHALLENGES: Field access was limited in remote areas due to monsoon season. Transportation costs exceeded projections. NEXT STEPS: Expand to Hyderabad in Q4. Recruit 20 more facilitators.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520440" cy="173736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0" y="1417320"/>
            <a:ext cx="352044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527048"/>
            <a:ext cx="333756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₹25.0L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321040" y="2494483"/>
            <a:ext cx="333756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Grant Amount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3429000"/>
            <a:ext cx="3520440" cy="173736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3429000"/>
            <a:ext cx="352044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538728"/>
            <a:ext cx="333756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21040" y="4506163"/>
            <a:ext cx="333756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0704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16152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16152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Impact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66344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57784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Complete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56432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₹19.1L of ₹25.0L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55080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Reached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activities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62288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62288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22" name="Text 20"/>
          <p:cNvSpPr/>
          <p:nvPr/>
        </p:nvSpPr>
        <p:spPr>
          <a:xfrm>
            <a:off x="9253728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253728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Reached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project activities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60704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16152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05256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16152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Progress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61872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554480"/>
                <a:gridCol w="1554480"/>
                <a:gridCol w="1554480"/>
                <a:gridCol w="19202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teachers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teachers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49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ACTIVITIES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Activities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1155680" cy="91440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8448"/>
            <a:ext cx="45720" cy="91440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371600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1664208"/>
            <a:ext cx="10899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Oct 2024  ·  Karnataka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58952" y="1865376"/>
            <a:ext cx="10899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teachers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FROM THE FIELD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 from the Field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292608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8448"/>
            <a:ext cx="1097280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441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49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097280" y="1801368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3D2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Amazing training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840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Savitha K., Teacher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16152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16152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Reach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7432" cy="4846320"/>
          </a:xfrm>
          <a:prstGeom prst="rect">
            <a:avLst/>
          </a:prstGeom>
          <a:solidFill>
            <a:srgbClr val="E8DDD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25880"/>
            <a:ext cx="2743200" cy="621792"/>
          </a:xfrm>
          <a:prstGeom prst="rect">
            <a:avLst/>
          </a:prstGeom>
          <a:solidFill>
            <a:srgbClr val="F7F3EE"/>
          </a:solidFill>
          <a:ln w="1270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4176" y="1527048"/>
            <a:ext cx="201168" cy="201168"/>
          </a:xfrm>
          <a:prstGeom prst="ellipse">
            <a:avLst/>
          </a:prstGeom>
          <a:solidFill>
            <a:srgbClr val="C49A32"/>
          </a:solidFill>
          <a:ln/>
        </p:spPr>
      </p:sp>
      <p:sp>
        <p:nvSpPr>
          <p:cNvPr id="14" name="Text 12"/>
          <p:cNvSpPr/>
          <p:nvPr/>
        </p:nvSpPr>
        <p:spPr>
          <a:xfrm>
            <a:off x="3986784" y="1417320"/>
            <a:ext cx="22311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59893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Karnataka: 0 students · 28 teachers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0704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16152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16152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7492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₹25.0L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8932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Budget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78708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8708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4" name="Text 12"/>
          <p:cNvSpPr/>
          <p:nvPr/>
        </p:nvSpPr>
        <p:spPr>
          <a:xfrm>
            <a:off x="3470148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₹19.1L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70148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Spent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49924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8" name="Text 16"/>
          <p:cNvSpPr/>
          <p:nvPr/>
        </p:nvSpPr>
        <p:spPr>
          <a:xfrm>
            <a:off x="6341364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₹5.8L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41364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Remaining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21140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21140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22" name="Text 20"/>
          <p:cNvSpPr/>
          <p:nvPr/>
        </p:nvSpPr>
        <p:spPr>
          <a:xfrm>
            <a:off x="9212580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212580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Rate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1828800"/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Spent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76872" y="0"/>
            <a:ext cx="5212080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7086600" y="1371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086600" y="2514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support 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086600" y="2880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3657600"/>
            <a:ext cx="3931920" cy="22860"/>
          </a:xfrm>
          <a:prstGeom prst="rect">
            <a:avLst/>
          </a:prstGeom>
          <a:solidFill>
            <a:srgbClr val="F7F3EE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3822192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 Trust
</a:t>
            </a:r>
            <a:pPr algn="ctr" indent="0" marL="0">
              <a:lnSpc>
                <a:spcPct val="155000"/>
              </a:lnSpc>
              <a:buNone/>
            </a:pPr>
            <a:r>
              <a:rPr lang="en-US" sz="1050" i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inclusive education for
visually impaired children
</a:t>
            </a:r>
            <a:pPr algn="ctr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www.visionempower.in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86600" y="5349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Tata Trusts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138160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93608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04504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59952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15400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93608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49056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759952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Next Steps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94360" y="1298448"/>
            <a:ext cx="3017520" cy="416052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1298448"/>
            <a:ext cx="30175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1408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1828800"/>
            <a:ext cx="2743200" cy="22860"/>
          </a:xfrm>
          <a:prstGeom prst="rect">
            <a:avLst/>
          </a:prstGeom>
          <a:solidFill>
            <a:srgbClr val="E8DDD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1956816"/>
            <a:ext cx="2788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access was limited in remote areas due to monsoon season. Transportation costs exceeded projections.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4760" y="1298448"/>
            <a:ext cx="3017520" cy="416052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298448"/>
            <a:ext cx="3017520" cy="4572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1408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31920" y="1828800"/>
            <a:ext cx="2743200" cy="22860"/>
          </a:xfrm>
          <a:prstGeom prst="rect">
            <a:avLst/>
          </a:prstGeom>
          <a:solidFill>
            <a:srgbClr val="E8DDD0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0" y="1956816"/>
            <a:ext cx="2788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report covers Q3 2024-25. CHALLENGES: Field access was limited in remote areas due to monsoon season. Transportation costs exceeded projections.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6510528"/>
            <a:ext cx="697687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6072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Vision Empower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— Funder Report</dc:title>
  <dc:subject>PptxGenJS Presentation</dc:subject>
  <dc:creator>Vision Empower</dc:creator>
  <cp:lastModifiedBy>Vision Empower</cp:lastModifiedBy>
  <cp:revision>1</cp:revision>
  <dcterms:created xsi:type="dcterms:W3CDTF">2026-05-02T11:29:44Z</dcterms:created>
  <dcterms:modified xsi:type="dcterms:W3CDTF">2026-05-02T11:29:44Z</dcterms:modified>
</cp:coreProperties>
</file>